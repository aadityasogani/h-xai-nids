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Arial"/>
              </a:rPr>
              <a:t>Figure 1: Feature Reduction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Candidate</c:v>
                  </c:pt>
                  <c:pt idx="1">
                    <c:v>Collinearity Pruning</c:v>
                  </c:pt>
                  <c:pt idx="2">
                    <c:v>Final Selected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</c:v>
                </c:pt>
                <c:pt idx="1">
                  <c:v>32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50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4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9F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LightGBM</c:v>
                  </c:pt>
                  <c:pt idx="3">
                    <c:v>DNN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99.8</c:v>
                </c:pt>
                <c:pt idx="1">
                  <c:v>99.7</c:v>
                </c:pt>
                <c:pt idx="2">
                  <c:v>99.5</c:v>
                </c:pt>
                <c:pt idx="3">
                  <c:v>98.9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8"/>
        </c:scaling>
        <c:delete val="0"/>
        <c:axPos val="l"/>
        <c:majorGridlines>
          <c:spPr>
            <a:ln w="6350" cap="flat">
              <a:solidFill>
                <a:srgbClr val="3A50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4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188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</a:rPr>
              <a:t>H-XAI-NIDS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B4D8"/>
                </a:solidFill>
              </a:rPr>
              <a:t>Explainable AI for Network Intrusion Detection System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4C9"/>
                </a:solidFill>
              </a:rPr>
              <a:t>Hierarchical Contextual Stacking Network Intrusion Detection System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M.Sc. Artificial Intelligence and Machine Learning  |  VIT Vellore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72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Shaik Zaid Kamal — 26MAG0042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Aaditya Sogani — 26MAG0064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Hrishikesh Dubey — 26MAG0017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 &amp; 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Why robust, transparent, context-aware NIDS matter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1923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Introduction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8463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NIDS monitor traffic for malicious activity and policy violations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Traffic volume/velocity make signature-based detection insufficient against polymorphic &amp; novel threats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SOC analysts need transparency to trust alerts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Severe class imbalance (benign ≫ attacks)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Feature redundancy in CICIDS-2017 adds noise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Zero-day attacks remain a vulnerability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Black-box models → alert fatigue &amp; delayed response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52160" y="1463040"/>
            <a:ext cx="5806440" cy="4754880"/>
          </a:xfrm>
          <a:prstGeom prst="roundRect">
            <a:avLst>
              <a:gd name="adj" fmla="val 1923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89320" y="155448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Problems Addressed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1965960"/>
            <a:ext cx="55321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Malicious traffic detection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Attack-family classification (DoS, Brute Force…)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Severe class imbalance (e.g., Heartbleed)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Feature redundancy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Contextual network behaviour (temporal/structural)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Unseen / zero-day attacks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Explainability for every high-risk alert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Operational usability: performance, latency, interpretability for SOC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Project Objectives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10 objectives across the full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1. Data Preprocessing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clean, normalize, validate, remove leakage fields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2. Domain Feature Engineering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burstiness, payload ratios, rate asymmetry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487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3. Unsupervised Embedding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8986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K-Means + GMM 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395728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4871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4. Hybrid Feature Selection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8986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Pearson, ANOVA, Chi-square + Genetic Algorithm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4655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5. Class Balancing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8770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cluster-aware k-Means SMOTE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374136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4655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6. Hierarchical Detection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8770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binary detection separate from family classification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4439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7. Contextual Modeling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855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lightweight Transformer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352544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44439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8. Zero-Day Detection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55080" y="48554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Deep-SVDD &amp; one-class approaches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330952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422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9. Global + Local XAI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833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TreeSHAP and LIME/Anchor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5330952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55080" y="5422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10. Operational Evaluation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5833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PR-AUC, FDR, Time-to-Detection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Existing Systems / Literature Review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Four key papers reviewed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XAI-IDS (MDPI, 2024)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CICIDS-2017, NSL-KDD, UNSW-NB15 • RF, XGBoost, LightGBM, CatBoost, DNN • TreeSHAP + LIME/KernelSHAP • RF ≈99.9% accuracy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Limit: no zero-day mechanism, no deep contextual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NIDS-β (Frontiers in AI, 2026)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92024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UNSW-NB15, CIC-IDS2018 • Transformer encoder + LightGBM head • OCM-SVM for zero-day • Attention-based XAI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Limit: high compute overhead; tokenization over statistical properties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977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Enhancing IDS with XAI (Bulgarian Academy, 2024)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3891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CICIDS-2017, UNSW-NB15 • Pearson + k-Means SMOTE + Random Forest • SHAP • up to 99.88% with 5–13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Limit: no fallback for zero-day traffic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977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E-XAI (IEEE Access)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43891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Evaluates LIME, SHAP, Anchors on fidelity, sparsity, stability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Limit: evaluates XAI frameworks but proposes no new detection engine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Literature Comparison Matrix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H-XAI-NIDS integrates what each paper does only partly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1645920"/>
                <a:gridCol w="146304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32B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32B"/>
                          </a:solidFill>
                        </a:rPr>
                        <a:t>Feature Selection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32B"/>
                          </a:solidFill>
                        </a:rPr>
                        <a:t>Class Balancing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32B"/>
                          </a:solidFill>
                        </a:rPr>
                        <a:t>Zero-Day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32B"/>
                          </a:solidFill>
                        </a:rPr>
                        <a:t>XAI Method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32B"/>
                          </a:solidFill>
                        </a:rPr>
                        <a:t>Limitations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XAI-IDS (MDPI)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SHAP Top-15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Not reported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Not reported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TreeSHAP, LIME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 unseen attack handling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NIDS-β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Subword tokenization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Not reported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OCM-SVM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Attention weights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High computational overhead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Enhancing IDS (Bulgarian)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Pearson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K-Means SMOTE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Not reported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SHAP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No hierarchical structure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Proposed H-XAI-NIDS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Domain + SFE + Hybrid GA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k-Means SMOTE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Deep-SVDD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TreeSHAP + LIME/Anchor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Under development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Research Gaps → H-XAI-NIDS Response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Gaps A–I identified from existing systems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75488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Gap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Existing Approach / Limitation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H-XAI-NIDS Response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A. Class imbalance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Standard SMOTE or ignored; overlapping boundaries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k-Means SMOTE (cluster-aware)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B. Feature redundancy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Single filters/SHAP; misses non-linear &amp; wrapper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Pearson + ANOVA + Chi-square + GA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C. Domain features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Raw statistics only; ignores burstiness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7 physics-based features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D. Unsupervised repr.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Models learn structure from scratch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Stacking Feature Embedding (K-Means + GMM)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E. Contextual modeling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Flat ML treats flows independently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Lightweight Transformer + tree ensembles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F. Hierarchical detection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Monolithic multi-class classifier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Level 1 binary + Level 2 meta-classifier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G. Zero-day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Unseen attacks forced into known families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Level-3 Deep-SVDD anomaly head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H/I. XAI &amp; evaluation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Single method (SHAP); LIME unstable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TreeSHAP (global) + LIME/Anchor (local), evaluated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Proposed Methodology — 8-Stage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Input: CICIDS2017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26030" cy="1097280"/>
          </a:xfrm>
          <a:prstGeom prst="roundRect">
            <a:avLst>
              <a:gd name="adj" fmla="val 8333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252603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1 Data Cleaning &amp; Schema Normalization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74670" y="182880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94710" y="1828800"/>
            <a:ext cx="2526030" cy="1097280"/>
          </a:xfrm>
          <a:prstGeom prst="roundRect">
            <a:avLst>
              <a:gd name="adj" fmla="val 8333"/>
            </a:avLst>
          </a:prstGeom>
          <a:solidFill>
            <a:srgbClr val="2EC4B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94710" y="1828800"/>
            <a:ext cx="252603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2 Domain-Specific Feature Engineering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20740" y="182880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40780" y="1828800"/>
            <a:ext cx="2526030" cy="1097280"/>
          </a:xfrm>
          <a:prstGeom prst="roundRect">
            <a:avLst>
              <a:gd name="adj" fmla="val 8333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40780" y="1828800"/>
            <a:ext cx="252603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3 Statistical Testing &amp; Feature Selection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66810" y="182880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086850" y="1828800"/>
            <a:ext cx="2526030" cy="1097280"/>
          </a:xfrm>
          <a:prstGeom prst="roundRect">
            <a:avLst>
              <a:gd name="adj" fmla="val 8333"/>
            </a:avLst>
          </a:prstGeom>
          <a:solidFill>
            <a:srgbClr val="2EC4B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86850" y="1828800"/>
            <a:ext cx="252603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4 Hybrid Statistical + GA Selection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2526030" cy="1097280"/>
          </a:xfrm>
          <a:prstGeom prst="roundRect">
            <a:avLst>
              <a:gd name="adj" fmla="val 8333"/>
            </a:avLst>
          </a:prstGeom>
          <a:solidFill>
            <a:srgbClr val="FF9F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252603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5 Cluster-Aware Class Balancing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74670" y="374904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94710" y="3749040"/>
            <a:ext cx="2526030" cy="1097280"/>
          </a:xfrm>
          <a:prstGeom prst="roundRect">
            <a:avLst>
              <a:gd name="adj" fmla="val 8333"/>
            </a:avLst>
          </a:prstGeom>
          <a:solidFill>
            <a:srgbClr val="FF9F1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94710" y="3749040"/>
            <a:ext cx="252603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6 Hierarchical Ensemble &amp; Contextual Modeling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20740" y="374904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40780" y="3749040"/>
            <a:ext cx="2526030" cy="1097280"/>
          </a:xfrm>
          <a:prstGeom prst="roundRect">
            <a:avLst>
              <a:gd name="adj" fmla="val 8333"/>
            </a:avLst>
          </a:prstGeom>
          <a:solidFill>
            <a:srgbClr val="FF9F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40780" y="3749040"/>
            <a:ext cx="252603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7 Dual Global-Local XAI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766810" y="3749040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86850" y="3749040"/>
            <a:ext cx="2526030" cy="1097280"/>
          </a:xfrm>
          <a:prstGeom prst="roundRect">
            <a:avLst>
              <a:gd name="adj" fmla="val 8333"/>
            </a:avLst>
          </a:prstGeom>
          <a:solidFill>
            <a:srgbClr val="FF9F1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86850" y="3749040"/>
            <a:ext cx="252603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8 Operational Evaluation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274320" cy="2743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5623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Currently implemented (Stages 1 &amp; 3)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0" y="5669280"/>
            <a:ext cx="274320" cy="2743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5216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Proposed / future work (incl. Stage 2)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Current Implementation — Stages 1–3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Verified results on CICIDS2017 subset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</a:rPr>
              <a:t>1,043,822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observations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508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</a:rPr>
              <a:t>78 → 70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columns (10 constant removed)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508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</a:rPr>
              <a:t>67 → 32 → 30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features (|r| ≥ 0.85, then MI)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15400" y="141732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1508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4B6"/>
                </a:solidFill>
              </a:rPr>
              <a:t>16 / 16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057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automated tests passed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278892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492240" y="2788920"/>
            <a:ext cx="5166360" cy="3566160"/>
          </a:xfrm>
          <a:prstGeom prst="roundRect">
            <a:avLst>
              <a:gd name="adj" fmla="val 2564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29400" y="28803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Findings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291840"/>
            <a:ext cx="4892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Identifier/leakage check: none found in this two-file subset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Files: Benign-Monday, DoS-Wednesday (parquet)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Class distribution: BENIGN 850,066 | DoS 193,745 | Heartbleed 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Total Fwd Packets ↔ Subflow Fwd Packets =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Fwd Pkt Len Mean ↔ Avg Fwd Segment Size = 1.0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Flow Duration ↔ Fwd IAT Total ≈ 0.9989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• Validates hybrid selection and class-balancing need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Proposed Components — Stages 2, 4 &amp; 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Stage 2: Domain Features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3832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Payload_Ratio_Fwd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Byte_Asymmetry_Index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Packet_Rate_Asymmetry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4. IAT_Coefficient_Variation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5. Burstiness_Index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6. Pkt_Size_Skewness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7. Byte_Entropy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Captures payload dynamics relevant to DoS and exfiltration.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</a:rPr>
              <a:t>Stacking Feature Embedding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20240"/>
            <a:ext cx="33832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StandardScaler → K-Means (k=5) → 5 soft-distance features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Gaussian Mixture Model → 4 probability features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Total: 9 SFE features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Unsupervised structure complements raw flow statistics.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Stage 4: Hybrid Selection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Pearson (|r|&gt;0.90) → ANOVA F-test → Chi-square → GA wrapper (pop=30, tournament)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Fitness = 0.85×PR-AUC − 0.15×(N_sel/N_total)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429000" cy="4846320"/>
          </a:xfrm>
          <a:prstGeom prst="roundRect">
            <a:avLst>
              <a:gd name="adj" fmla="val 2667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508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Stage 5: k-Means SMOTE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1920240"/>
            <a:ext cx="31546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Minority samples → K-Means clustering → identify minority regions → generate synthetic samples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Avoids synthetic points in empty space between attack sub-clusters (e.g., Heartbleed).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Extremely rare classes fall back to RandomOverSampler.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Stages 6–8: Hierarchical Detection, XAI &amp; Evaluation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Proposed / future component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Stage 6: Hierarchy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3832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L1 Binary: XGBoost, LightGBM, RF, MLP, Lightweight Contextual Transformer (d_model=64, nhead=4, layers=2) → P(Malicious|X)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L2 Family: L1 out-of-fold predictions → meta-classifier → attack family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L3 Zero-Day: Deep-SVDD + Isotonic Regression to flag unseen attacks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Stage 7: Dual XAI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1920240"/>
            <a:ext cx="33832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Global: TreeSHAP — feature importance, contribution, dependence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Local: selective LIME + Anchor — high-risk alerts &amp; borderline predictions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Goal: accuracy, sparsity and stable anchors to build SOC trust.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429000" cy="4846320"/>
          </a:xfrm>
          <a:prstGeom prst="roundRect">
            <a:avLst>
              <a:gd name="adj" fmla="val 2667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6760" y="1508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F1C"/>
                </a:solidFill>
              </a:rPr>
              <a:t>Stage 8: Evaluation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1920240"/>
            <a:ext cx="31546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Primary: PR-AUC, FDR, FNR, Time-to-Detection, Expected Calibration Error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Secondary: ROC-AUC, FPR, F1, Confusion Matrix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Target benchmarks will not be presented as achieved until validated.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Algorithms Used and Why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Candidate methods → selected method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0175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Candidates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Selected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Expected Benefit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Feature redundancy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Pearson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Pearson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Compact, task-relevant subset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Feature relevance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MI / ANOVA / Chi-square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MI / ANOVA / Chi-square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Linear + non-linear patterns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Class imbalance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SMOTE / ADASYN / k-Means SMOTE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k-Means SMOTE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Preserves boundaries without noise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Classification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RF / XGBoost / LightGBM / MLP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XGBoost + LightGBM + RF + MLP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High PR-AUC on tabular data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LSTM / GRU / Transformer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Lightweight Transformer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Sequential patterns, no LLM overhead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Zero-day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Isolation Forest / OC-SVM / Deep-SVDD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Deep-SVDD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Flags novel signatures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Calibration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Isotonic Regression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Accurate alert thresholds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Global XAI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Permutation / SHAP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TreeSHAP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Fast, grounded global insight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Local XAI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LIME / Anchor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LIME + Anchor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Actionable, transparent alerts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Architecture &amp; Detection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Implemented → proposed pipeline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CURRENTLY IMPLEMENTED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Data Loading &amp; Cleaning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69164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4340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Diagnostic EDA &amp; Stats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69164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474720" cy="68580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Correlation Pruning + MI (30 features)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</a:rPr>
              <a:t>PROPOSED / FUTURE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252603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926080"/>
            <a:ext cx="25260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Domain Features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74670" y="29260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394710" y="2926080"/>
            <a:ext cx="252603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94710" y="2926080"/>
            <a:ext cx="25260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SFE (K-Means + GMM)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20740" y="29260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40780" y="2926080"/>
            <a:ext cx="252603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40780" y="2926080"/>
            <a:ext cx="25260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Hybrid Selection (ANOVA + χ² + GA)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766810" y="29260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086850" y="2926080"/>
            <a:ext cx="252603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86850" y="2926080"/>
            <a:ext cx="25260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k-Means SMOTE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252603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3840480"/>
            <a:ext cx="25260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L1 Binary Detection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074670" y="38404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394710" y="3840480"/>
            <a:ext cx="252603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94710" y="3840480"/>
            <a:ext cx="25260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L2 Attack Family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920740" y="38404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40780" y="3840480"/>
            <a:ext cx="252603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40780" y="3840480"/>
            <a:ext cx="25260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L3 Zero-Day Deep-SVDD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766810" y="38404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086850" y="3840480"/>
            <a:ext cx="252603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086850" y="3840480"/>
            <a:ext cx="25260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Dual XAI (TreeSHAP + LIME/Anchor)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754880"/>
            <a:ext cx="537210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4754880"/>
            <a:ext cx="53721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Operational Evaluation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920740" y="475488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240780" y="4754880"/>
            <a:ext cx="5372100" cy="685800"/>
          </a:xfrm>
          <a:prstGeom prst="roundRect">
            <a:avLst>
              <a:gd name="adj" fmla="val 13333"/>
            </a:avLst>
          </a:prstGeom>
          <a:solidFill>
            <a:srgbClr val="FF9F1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40780" y="4754880"/>
            <a:ext cx="53721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32B"/>
                </a:solidFill>
              </a:rPr>
              <a:t>Security Alert / OUTPUT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Decision logic: Malicious? No → BENIGN. Yes → L2 family; if confidence is low → L3 anomaly score → "Potential Unseen Attack"; then XAI explanation → alert.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Pseudocode — Hierarchical Detection (Algorithm 3)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Plus pipeline, hybrid selection and XAI algorithms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887"/>
            </a:avLst>
          </a:prstGeom>
          <a:solidFill>
            <a:srgbClr val="060B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P_malicious = Level_1_Classifier(X)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P_malicious &lt;= Threshold: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"Benign"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AttackFamily = Level_2_Classifier(X)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Confidence(AttackFamily) &gt; HighConfThreshold: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AttackFamily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AnomalyScore = Level_3_Deep_SVDD(X)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AnomalyScore &gt; ZeroDayThreshold: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"Potential Unseen Attack"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AttackFamily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417320"/>
            <a:ext cx="4343400" cy="4846320"/>
          </a:xfrm>
          <a:prstGeom prst="roundRect">
            <a:avLst>
              <a:gd name="adj" fmla="val 2105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52360" y="15087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Other Algorithms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92024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Alg 1 — Pipeline: Clean → Domain features → Append SFE → Hybrid selection → k-Means SMOTE → Train hierarchy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Alg 2 — Hybrid Selection: Pearson filter (0.90) → GA wrapper (0.85×PRAUC − 0.15×Penalty)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Alg 4 — XAI: TreeSHAP global context + LIME/Anchor local alert → human-readable security alert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Input &amp; Output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Current development input vs complete proposed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029200" cy="4846320"/>
          </a:xfrm>
          <a:prstGeom prst="roundRect">
            <a:avLst>
              <a:gd name="adj" fmla="val 1887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47548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Current development: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Benign-Monday-no-metadata.parquet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DoS-Wednesday-no-metadata.parquet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1,043,822 observations, 78 columns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Proposed system: CICIDS2017 flow records — packet lengths/rates, byte rates, inter-arrival times, TCP flags, protocol info, forward/backward flow statistics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417320"/>
            <a:ext cx="5897880" cy="4846320"/>
          </a:xfrm>
          <a:prstGeom prst="roundRect">
            <a:avLst>
              <a:gd name="adj" fmla="val 1887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50876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Output (complete system)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920240"/>
            <a:ext cx="56235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Binary: BENIGN / MALICIOUS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Attack-family classification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Zero-day indication: Normal / Potential Unseen Attack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Confidence / probability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5. Global XAI (TreeSHAP)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6. Local XAI (LIME / Anchor)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7. Security alert for SOC analysts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8. Operational evaluation metrics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Current vs Proposed Status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Transparent view of project progress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</a:rPr>
              <a:t>CURRENTLY IMPLEMENTED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51206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Data loading &amp; cleaning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Diagnostic EDA, missingness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Class distribution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Skewness / kurtosis, IQR outlier diagnostics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Pearson / Spearman correlation analysis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Mutual Information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Correlation pruning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Final 30-feature selection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✔ Automated validation (16/16)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087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PROPOSED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20240"/>
            <a:ext cx="51663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Domain-specific feature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K-Means + GMM stacking embedding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ANOVA F-test, Chi-square, GA wrapper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k-Means SMOTE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XGBoost / LightGBM / RF / MLP ensemble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Lightweight Transformer, Deep-SVDD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Isotonic Regression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TreeSHAP, LIME + Anchor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Operational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Reported Performance of Existing NIDS Models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Literature values (XAI-IDS, MDPI 2024, CICIDS-2017) — not our experiments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1732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417320"/>
            <a:ext cx="4069080" cy="4846320"/>
          </a:xfrm>
          <a:prstGeom prst="roundRect">
            <a:avLst>
              <a:gd name="adj" fmla="val 2247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508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Important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1920240"/>
            <a:ext cx="37947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These are reported results from existing papers, shown only to contextualize current approaches.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They are NOT experiments by our team and NOT a head-to-head comparison with H-XAI-NIDS.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Performance claims will be made only after controlled experiments under a common protocol.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H-XAI-NIDS Is Expected to Improve Existing Systems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Capability gaps, expected advantage and validation method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01752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Limitation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H-XAI-NIDS Response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Expected Advantage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32B"/>
                          </a:solidFill>
                        </a:rPr>
                        <a:t>Validation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Feature redundancy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Pearson + ANOVA + Chi-sq + GA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More compact features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Feature count, performance, inference 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Class imbalance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k-Means SMOTE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Better minority representation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Minority recall, PR-AUC, FNR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Contextual modelling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Lightweight Transformer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Capture contextual relations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vs non-contextual baselines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Flat classification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Hierarchical detection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Separate detection &amp; family decisions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vs single-classifier baselines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Unseen attacks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Deep-SVDD anomaly head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Dedicated anomaly pathway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Held-out unseen attacks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Explainability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TreeSHAP + LIME + Anchor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Global + local explanations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Explanation quality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0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Experimental Validation &amp; XAI Evaluation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Planned evaluation protocol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Benchmark Ladder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5212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Baselines: RF, XGBoost, LightGBM, MLP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Single 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Conventional ensemble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Hierarchical system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4. Hierarchical + contextual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5. Hierarchical + zero-day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6. Full H-XAI-NIDS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Metrics: PR-AUC, ROC-AUC, Precision, Recall, F1, FPR, FNR, FDR, inference time, memory, #features. Zero-day: held-out unseen attack protocol.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1C2541"/>
          </a:solidFill>
          <a:ln w="15875">
            <a:solidFill>
              <a:srgbClr val="FF9F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5087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</a:rPr>
              <a:t>XAI Evaluation (TreeSHAP vs LIME vs Anchor)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920240"/>
            <a:ext cx="516636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Descriptive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Sparsity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Stability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Efficiency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Robustness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Completeness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Unstable or uninterpretable explanations cause alert fatigue and delayed incident response.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Research Contribution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0" cy="5120640"/>
          </a:xfrm>
          <a:prstGeom prst="roundRect">
            <a:avLst>
              <a:gd name="adj" fmla="val 1786"/>
            </a:avLst>
          </a:prstGeom>
          <a:solidFill>
            <a:srgbClr val="1C2541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Contribution: Integration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52120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Integrated architecture combining: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Hierarchical detection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Domain-specific flow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Unsupervised stacking embedding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4. Hybrid feature selection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5. Cluster-aware balancing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6. Contextual modeling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7. Zero-day anomaly detection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8. Dual global/local XAI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9. Operational evaluation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10. Literature-based comparison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Contribution is the integration, not novel standard algorithms.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440680" cy="5120640"/>
          </a:xfrm>
          <a:prstGeom prst="roundRect">
            <a:avLst>
              <a:gd name="adj" fmla="val 1786"/>
            </a:avLst>
          </a:prstGeom>
          <a:solidFill>
            <a:srgbClr val="1C2541"/>
          </a:solidFill>
          <a:ln w="15875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12801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691640"/>
            <a:ext cx="51663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Existing systems excel on known attacks but struggle with imbalance, redundancy, context, unseen attacks and explainability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Stage 1–3 completed: 1,043,822 observations processed, collinearity identified, 67 candidates → 30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Full hierarchy, Deep-SVDD, Transformer and TreeSHAP/LIME are future work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Superiority will be claimed only after controlled baseline experiments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References &amp; Thank You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• MDPI (2024). XAI-IDS: Toward Proposing an Explainable AI Framework for Enhancing NIDS. Applied Sciences.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• Frontiers in AI (2026). NIDS-β: An explainable LLM-based framework for contextual intrusion resilience.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• Bulgarian Academy of Sciences (2024). Enhancing Intrusion Detection with Explainable AI. Cybernetics and Information Technologies.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• arXiv (2024). Explainable AI-based Intrusion Detection System for Industry 5.0.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• IEEE Access (2024). E-XAI: Evaluating Black-Box Explainable AI Frameworks for NID.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• Project internal documentation: H-XAI-NIDS Architecture &amp; Master Technical Implementation Plan.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</a:rPr>
              <a:t>Thank you — Questions?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H-XAI-NIDS</dc:title>
  <dc:subject>PptxGenJS Presentation</dc:subject>
  <dc:creator>PptxGenJS</dc:creator>
  <cp:lastModifiedBy>PptxGenJS</cp:lastModifiedBy>
  <cp:revision>1</cp:revision>
  <dcterms:created xsi:type="dcterms:W3CDTF">2026-10-09T18:37:06Z</dcterms:created>
  <dcterms:modified xsi:type="dcterms:W3CDTF">2026-10-09T18:37:06Z</dcterms:modified>
</cp:coreProperties>
</file>